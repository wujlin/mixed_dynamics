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A031D-5A75-1082-689A-8C87CC91C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6B4DB8-8230-D772-FCAB-7AFB9854C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F5EAA9-A94C-3242-ED3A-305DA5F90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5CE58-C6CD-89A5-8848-BF47D349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A233C0-EA3A-8069-8E9D-4679FBDA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5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CB0C7-BA10-FD70-D68D-CD2C1E54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2B5C6-122C-56AB-CE18-AD526995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E1457-4622-8767-EE72-A56BD87F4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9D239-D4A7-822A-F08F-67CDAD7D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68908B-7C30-2CA7-71E5-A85CF5E7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3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7C554-472B-B6FF-DCA4-57A17AAE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54E9DB-CC0B-3D9A-90A9-54E910FB4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63928-A758-E901-38ED-A5787F35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9D029-1451-8515-5A5B-3C605DA5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64EF93-4DBB-C419-0AF9-D3357411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166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6CC74-4767-B9E2-6213-A9F520A4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3B4F4E-C194-CE2B-A1D3-790A0973C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50922D-A6CA-F88E-3B24-E81A2EC98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F9E8A7-3CD1-EAF6-016E-533CCF6A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360977-C646-75B5-84B9-828C1577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2345B0-415A-08B4-1E7D-D7B38067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58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D50A4-21F6-8D78-1956-B5B855EB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B3591-A5D1-A351-24A9-87C62B834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AB1DFF-4087-30D7-C437-6208BAC38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33483E-B1D1-323D-B0BB-A32BB356B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276055-9152-EB7A-180D-4CD3435EA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71126A-0664-1A9C-86EE-77702B3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1AF8D4-33E3-57BE-627A-F0531F50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138A7B-802A-4FAC-7C6A-D7DADE8E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46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025EF-5E55-6AC5-A57D-68AA2997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D73F30-133D-7B88-2942-859A052A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641430-F278-7C02-38EE-DAA821FD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2412FF-BD7F-5E2D-41B6-ED918931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81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40E3E8-05EE-4DEE-EA10-B73155D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34DEB6-3EDA-18DE-D00B-34656D65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D8E7D0-8990-06DC-E5FB-B7DB0F2E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60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3842F-0934-8C17-7C3E-17EC4E4DD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75F8A4-6DDE-A5D2-20BF-71DE0C03F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115238-035E-6EAD-8143-47BBDF0F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34800E-B114-FCCA-7EAA-73B59B35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096E92-60A8-20AC-EDA2-B1ECC3EE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DF0829-3D61-5170-6A90-ED258C3C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5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D032D-237F-36C7-F25A-6FDC1A33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3DF82-3C42-0788-3644-E08B2D84D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C809EC-F4E6-BF55-957B-7B18074DC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E7D8C5-2EFB-32A3-A3EB-70967F577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FC90BB-B358-4FA3-B34C-8FE06E46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112A9C-4F2B-2DD9-DB00-82AA7668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77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B58DB-8D36-F31F-71F8-FB0ACA66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63D56F-0DE3-86EC-446D-B74997DE3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CA503-0FAF-F5A1-6B6F-4CC9AB22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3FE25-170C-9798-3C9A-866F63C9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B19AD-3EE4-46DE-E5FA-2D78ADC9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1DA167-0AFB-1C6A-1465-E22D330AD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E6ED23-1B92-964A-AE3F-447228EF2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B58E09-A585-3F88-83E8-FD09D958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65352-668F-9679-D5E8-9910F81E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756607-C7DC-3209-ECCF-679F4402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82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9EA35E-79D1-559A-3875-3FDD7006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A2406C-65E3-02DC-95A5-3470C99A1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D92E5-39E1-68F2-F4CE-6AEE59DBD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90329-E977-421E-B9FC-1D64467E6C6C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7C128-FD7B-B99C-A9CE-171B0FD21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65D9C-0900-1F7A-601F-DC8F7ACE7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D685A-E78C-423E-9625-9B792A263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2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8F91D2C-19C1-507B-D7FB-3BDC683886BD}"/>
              </a:ext>
            </a:extLst>
          </p:cNvPr>
          <p:cNvSpPr/>
          <p:nvPr/>
        </p:nvSpPr>
        <p:spPr>
          <a:xfrm>
            <a:off x="208655" y="55232"/>
            <a:ext cx="11911747" cy="1730800"/>
          </a:xfrm>
          <a:prstGeom prst="roundRect">
            <a:avLst>
              <a:gd name="adj" fmla="val 11611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5C94773-6BD8-54E9-83A7-96712BA00E1E}"/>
              </a:ext>
            </a:extLst>
          </p:cNvPr>
          <p:cNvSpPr/>
          <p:nvPr/>
        </p:nvSpPr>
        <p:spPr>
          <a:xfrm>
            <a:off x="208653" y="2214882"/>
            <a:ext cx="3826363" cy="2668426"/>
          </a:xfrm>
          <a:prstGeom prst="roundRect">
            <a:avLst>
              <a:gd name="adj" fmla="val 6836"/>
            </a:avLst>
          </a:prstGeom>
          <a:solidFill>
            <a:srgbClr val="D1D1D1"/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42FD87-7DF9-9AEB-AD95-986343D140BA}"/>
              </a:ext>
            </a:extLst>
          </p:cNvPr>
          <p:cNvSpPr/>
          <p:nvPr/>
        </p:nvSpPr>
        <p:spPr>
          <a:xfrm>
            <a:off x="4455399" y="2242643"/>
            <a:ext cx="3551228" cy="2617794"/>
          </a:xfrm>
          <a:prstGeom prst="roundRect">
            <a:avLst>
              <a:gd name="adj" fmla="val 4747"/>
            </a:avLst>
          </a:prstGeom>
          <a:solidFill>
            <a:schemeClr val="bg2">
              <a:lumMod val="9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D56907-63EB-0E9F-5304-3CB899BC4627}"/>
              </a:ext>
            </a:extLst>
          </p:cNvPr>
          <p:cNvSpPr/>
          <p:nvPr/>
        </p:nvSpPr>
        <p:spPr>
          <a:xfrm>
            <a:off x="8418730" y="2232709"/>
            <a:ext cx="3732263" cy="2645555"/>
          </a:xfrm>
          <a:prstGeom prst="roundRect">
            <a:avLst>
              <a:gd name="adj" fmla="val 6322"/>
            </a:avLst>
          </a:prstGeom>
          <a:solidFill>
            <a:schemeClr val="bg2">
              <a:lumMod val="9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53A13C6-3C2D-2A53-E02E-1601A6543B1C}"/>
              </a:ext>
            </a:extLst>
          </p:cNvPr>
          <p:cNvSpPr/>
          <p:nvPr/>
        </p:nvSpPr>
        <p:spPr>
          <a:xfrm>
            <a:off x="5096705" y="110464"/>
            <a:ext cx="2135646" cy="3522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INPUT</a:t>
            </a:r>
            <a:endParaRPr lang="zh-CN" altLang="en-US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8760378-FEDF-F772-0AC0-2E72168C0C92}"/>
              </a:ext>
            </a:extLst>
          </p:cNvPr>
          <p:cNvSpPr/>
          <p:nvPr/>
        </p:nvSpPr>
        <p:spPr>
          <a:xfrm>
            <a:off x="4513494" y="2312469"/>
            <a:ext cx="3469809" cy="46065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Layer 2: Temporal Synchrony</a:t>
            </a:r>
            <a:endParaRPr lang="zh-CN" altLang="en-US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57BF66-338D-6EB2-CA1E-6582C3A79804}"/>
              </a:ext>
            </a:extLst>
          </p:cNvPr>
          <p:cNvSpPr/>
          <p:nvPr/>
        </p:nvSpPr>
        <p:spPr>
          <a:xfrm>
            <a:off x="294158" y="2301564"/>
            <a:ext cx="3697491" cy="41153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Layer 1: Content Framing</a:t>
            </a:r>
            <a:endParaRPr lang="zh-CN" altLang="en-US" sz="1400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7BAC9B0-030E-2A20-142A-B7BC8BC90834}"/>
              </a:ext>
            </a:extLst>
          </p:cNvPr>
          <p:cNvSpPr/>
          <p:nvPr/>
        </p:nvSpPr>
        <p:spPr>
          <a:xfrm>
            <a:off x="8560993" y="2285208"/>
            <a:ext cx="3559409" cy="51849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Layer 3: Individual Sensitivity</a:t>
            </a:r>
            <a:endParaRPr lang="zh-CN" altLang="en-US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B110494-DCB7-438B-E889-64658EC56D21}"/>
              </a:ext>
            </a:extLst>
          </p:cNvPr>
          <p:cNvSpPr/>
          <p:nvPr/>
        </p:nvSpPr>
        <p:spPr>
          <a:xfrm>
            <a:off x="247894" y="5329612"/>
            <a:ext cx="11891291" cy="1410094"/>
          </a:xfrm>
          <a:prstGeom prst="roundRect">
            <a:avLst>
              <a:gd name="adj" fmla="val 11611"/>
            </a:avLst>
          </a:prstGeom>
          <a:solidFill>
            <a:schemeClr val="tx2">
              <a:lumMod val="10000"/>
              <a:lumOff val="9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27AEC05-22EB-3918-89B2-13EA0AE32515}"/>
              </a:ext>
            </a:extLst>
          </p:cNvPr>
          <p:cNvSpPr/>
          <p:nvPr/>
        </p:nvSpPr>
        <p:spPr>
          <a:xfrm>
            <a:off x="4726956" y="5406081"/>
            <a:ext cx="3279671" cy="35133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Compounded Mechanism</a:t>
            </a:r>
            <a:endParaRPr lang="zh-CN" altLang="en-US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7B402407-9CAC-65C6-920B-0C61BF762005}"/>
              </a:ext>
            </a:extLst>
          </p:cNvPr>
          <p:cNvCxnSpPr>
            <a:cxnSpLocks/>
          </p:cNvCxnSpPr>
          <p:nvPr/>
        </p:nvCxnSpPr>
        <p:spPr>
          <a:xfrm rot="5400000">
            <a:off x="4026835" y="182"/>
            <a:ext cx="400436" cy="404269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C6F68B6-377C-A4F6-941D-8F55C6BD3B21}"/>
              </a:ext>
            </a:extLst>
          </p:cNvPr>
          <p:cNvCxnSpPr>
            <a:cxnSpLocks/>
          </p:cNvCxnSpPr>
          <p:nvPr/>
        </p:nvCxnSpPr>
        <p:spPr>
          <a:xfrm>
            <a:off x="6248400" y="1821311"/>
            <a:ext cx="3069" cy="4357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8F92DF8F-7A1B-02E7-EA9F-95D0C2C6AA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18622" y="-69807"/>
            <a:ext cx="435723" cy="41761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B1AEDF6-B948-214E-CAD2-1CDE89F59F40}"/>
              </a:ext>
            </a:extLst>
          </p:cNvPr>
          <p:cNvCxnSpPr>
            <a:cxnSpLocks/>
          </p:cNvCxnSpPr>
          <p:nvPr/>
        </p:nvCxnSpPr>
        <p:spPr>
          <a:xfrm>
            <a:off x="4035016" y="3542848"/>
            <a:ext cx="420383" cy="2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98F764A-7C52-F0AE-012D-EA1B2A9B4E9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006627" y="3551540"/>
            <a:ext cx="412103" cy="3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0E41F47C-38FD-AC25-AAF0-960B1E4E35F0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16200000" flipH="1">
            <a:off x="3934535" y="3070607"/>
            <a:ext cx="446304" cy="407170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D9E7893-857A-B8CC-53C0-A2A43348BBB7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6193540" y="4860437"/>
            <a:ext cx="37473" cy="469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82CE2FE2-9ECA-755B-1550-765E21595072}"/>
              </a:ext>
            </a:extLst>
          </p:cNvPr>
          <p:cNvCxnSpPr>
            <a:cxnSpLocks/>
          </p:cNvCxnSpPr>
          <p:nvPr/>
        </p:nvCxnSpPr>
        <p:spPr>
          <a:xfrm rot="5400000">
            <a:off x="8028428" y="3018200"/>
            <a:ext cx="458596" cy="41659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流程图: 磁盘 61">
            <a:extLst>
              <a:ext uri="{FF2B5EF4-FFF2-40B4-BE49-F238E27FC236}">
                <a16:creationId xmlns:a16="http://schemas.microsoft.com/office/drawing/2014/main" id="{3FD70DB6-82C0-64ED-6356-3DAF86E75CD6}"/>
              </a:ext>
            </a:extLst>
          </p:cNvPr>
          <p:cNvSpPr/>
          <p:nvPr/>
        </p:nvSpPr>
        <p:spPr>
          <a:xfrm>
            <a:off x="2121833" y="631946"/>
            <a:ext cx="1113859" cy="780402"/>
          </a:xfrm>
          <a:prstGeom prst="flowChartMagneticDisk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Wei Posts</a:t>
            </a:r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1D5DF9E-2866-7FBF-7C30-1F5149E4AA4A}"/>
              </a:ext>
            </a:extLst>
          </p:cNvPr>
          <p:cNvSpPr txBox="1"/>
          <p:nvPr/>
        </p:nvSpPr>
        <p:spPr>
          <a:xfrm>
            <a:off x="1610172" y="1447627"/>
            <a:ext cx="2745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Long-COVID, 2020.03-2024.02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E0C6E625-9665-7B0B-B03C-30E28EE32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606" y="690001"/>
            <a:ext cx="691938" cy="691938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8A0FDB9D-7CBE-88DA-2D8E-D7A65C0B158C}"/>
              </a:ext>
            </a:extLst>
          </p:cNvPr>
          <p:cNvSpPr txBox="1"/>
          <p:nvPr/>
        </p:nvSpPr>
        <p:spPr>
          <a:xfrm>
            <a:off x="5361616" y="1418149"/>
            <a:ext cx="146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LLM Annotation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82CB50A7-1325-C2E1-573D-C8683D9D3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999" t="12878" r="37768" b="12955"/>
          <a:stretch>
            <a:fillRect/>
          </a:stretch>
        </p:blipFill>
        <p:spPr>
          <a:xfrm>
            <a:off x="9119253" y="570732"/>
            <a:ext cx="356140" cy="840578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99B3C4CE-F048-C723-90FF-B637D2CFCED8}"/>
              </a:ext>
            </a:extLst>
          </p:cNvPr>
          <p:cNvSpPr txBox="1"/>
          <p:nvPr/>
        </p:nvSpPr>
        <p:spPr>
          <a:xfrm>
            <a:off x="8560993" y="1447626"/>
            <a:ext cx="1554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Emotion Arousal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31DCBE67-ADF9-8963-3C2B-385B81746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19" t="11122" r="6295" b="5377"/>
          <a:stretch>
            <a:fillRect/>
          </a:stretch>
        </p:blipFill>
        <p:spPr>
          <a:xfrm>
            <a:off x="345398" y="2975504"/>
            <a:ext cx="2017497" cy="1237155"/>
          </a:xfrm>
          <a:prstGeom prst="rect">
            <a:avLst/>
          </a:prstGeom>
        </p:spPr>
      </p:pic>
      <p:sp>
        <p:nvSpPr>
          <p:cNvPr id="16" name="AutoShape 2">
            <a:extLst>
              <a:ext uri="{FF2B5EF4-FFF2-40B4-BE49-F238E27FC236}">
                <a16:creationId xmlns:a16="http://schemas.microsoft.com/office/drawing/2014/main" id="{CE6569DA-15A2-C876-CF15-EA507F9012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25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A218192-E190-5B00-E5FC-C83F90FB3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2" b="8619"/>
          <a:stretch>
            <a:fillRect/>
          </a:stretch>
        </p:blipFill>
        <p:spPr>
          <a:xfrm>
            <a:off x="4716214" y="2969347"/>
            <a:ext cx="1458542" cy="134951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C4B0E18-B5CD-274B-9DAC-D2FDF49C4E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8" r="4108" b="11558"/>
          <a:stretch>
            <a:fillRect/>
          </a:stretch>
        </p:blipFill>
        <p:spPr>
          <a:xfrm>
            <a:off x="8625290" y="2984042"/>
            <a:ext cx="1623872" cy="1407094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B937F683-F6C1-4D73-AB89-2E41DBE00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97623" y="5614514"/>
            <a:ext cx="8128775" cy="8097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658E88B-DC18-B822-CE03-85E87FC9ED3C}"/>
              </a:ext>
            </a:extLst>
          </p:cNvPr>
          <p:cNvSpPr txBox="1"/>
          <p:nvPr/>
        </p:nvSpPr>
        <p:spPr>
          <a:xfrm>
            <a:off x="526051" y="4401214"/>
            <a:ext cx="3465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We-media frames risk more emotionally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A7ED36-CF82-827E-7881-7E556FE9D003}"/>
              </a:ext>
            </a:extLst>
          </p:cNvPr>
          <p:cNvSpPr txBox="1"/>
          <p:nvPr/>
        </p:nvSpPr>
        <p:spPr>
          <a:xfrm>
            <a:off x="4455398" y="4529978"/>
            <a:ext cx="3642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Shared major events, broader we-media coverage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E5D183-EE91-3521-7370-7FA35657319D}"/>
              </a:ext>
            </a:extLst>
          </p:cNvPr>
          <p:cNvSpPr txBox="1"/>
          <p:nvPr/>
        </p:nvSpPr>
        <p:spPr>
          <a:xfrm>
            <a:off x="8443206" y="4544841"/>
            <a:ext cx="36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We-media-only users react most strongly under risk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81238F-979A-8869-667A-93433C6114B4}"/>
              </a:ext>
            </a:extLst>
          </p:cNvPr>
          <p:cNvSpPr txBox="1"/>
          <p:nvPr/>
        </p:nvSpPr>
        <p:spPr>
          <a:xfrm>
            <a:off x="2329976" y="2981568"/>
            <a:ext cx="1525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We-media frames risk more emotionally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1C110E-C7FC-34B1-351C-C1A0B06F0935}"/>
              </a:ext>
            </a:extLst>
          </p:cNvPr>
          <p:cNvSpPr txBox="1"/>
          <p:nvPr/>
        </p:nvSpPr>
        <p:spPr>
          <a:xfrm>
            <a:off x="6435571" y="2945488"/>
            <a:ext cx="139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Aligned peaks: shared major events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24E48E-1FF0-BF55-250D-309A937A0688}"/>
              </a:ext>
            </a:extLst>
          </p:cNvPr>
          <p:cNvSpPr txBox="1"/>
          <p:nvPr/>
        </p:nvSpPr>
        <p:spPr>
          <a:xfrm>
            <a:off x="10496531" y="2922026"/>
            <a:ext cx="1623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Light vs dark bars: non-risk vs risk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05ED25C-6027-AF93-EB25-E0891BAC4E2E}"/>
              </a:ext>
            </a:extLst>
          </p:cNvPr>
          <p:cNvSpPr txBox="1"/>
          <p:nvPr/>
        </p:nvSpPr>
        <p:spPr>
          <a:xfrm>
            <a:off x="2329976" y="3642308"/>
            <a:ext cx="1525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Orange spread: stronger emotional framing 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3B010F5-BF40-44A9-0EAA-4DDD2D44E35D}"/>
              </a:ext>
            </a:extLst>
          </p:cNvPr>
          <p:cNvSpPr txBox="1"/>
          <p:nvPr/>
        </p:nvSpPr>
        <p:spPr>
          <a:xfrm>
            <a:off x="6435571" y="3644498"/>
            <a:ext cx="1646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Extra peaks: additional we-media coverage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BDE8E59-9281-C20E-C4BE-252459E7FBD5}"/>
              </a:ext>
            </a:extLst>
          </p:cNvPr>
          <p:cNvSpPr txBox="1"/>
          <p:nvPr/>
        </p:nvSpPr>
        <p:spPr>
          <a:xfrm>
            <a:off x="10455722" y="3642308"/>
            <a:ext cx="1623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Longer arrows: stronger response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683CF5D-32C7-3A59-D1BB-4ECCECB0D9A6}"/>
              </a:ext>
            </a:extLst>
          </p:cNvPr>
          <p:cNvSpPr txBox="1"/>
          <p:nvPr/>
        </p:nvSpPr>
        <p:spPr>
          <a:xfrm>
            <a:off x="2400077" y="6366328"/>
            <a:ext cx="1591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Distinct mechanisms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9262912-5542-9C4B-38D7-3B05D5E3B5A3}"/>
              </a:ext>
            </a:extLst>
          </p:cNvPr>
          <p:cNvSpPr txBox="1"/>
          <p:nvPr/>
        </p:nvSpPr>
        <p:spPr>
          <a:xfrm>
            <a:off x="5361616" y="6374784"/>
            <a:ext cx="1224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Reinforcement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244594B-90AD-CAE4-E093-E73CB3436980}"/>
              </a:ext>
            </a:extLst>
          </p:cNvPr>
          <p:cNvSpPr txBox="1"/>
          <p:nvPr/>
        </p:nvSpPr>
        <p:spPr>
          <a:xfrm>
            <a:off x="8212678" y="6401435"/>
            <a:ext cx="1591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Amplified dynamics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D593869-31C1-B846-1654-851EC88AF676}"/>
              </a:ext>
            </a:extLst>
          </p:cNvPr>
          <p:cNvCxnSpPr/>
          <p:nvPr/>
        </p:nvCxnSpPr>
        <p:spPr>
          <a:xfrm>
            <a:off x="3608505" y="1035970"/>
            <a:ext cx="153422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17FBCE9-BFE7-3230-C194-86E74ED64B38}"/>
              </a:ext>
            </a:extLst>
          </p:cNvPr>
          <p:cNvCxnSpPr/>
          <p:nvPr/>
        </p:nvCxnSpPr>
        <p:spPr>
          <a:xfrm>
            <a:off x="7062149" y="1014842"/>
            <a:ext cx="153422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25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88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Helvetica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3</cp:revision>
  <dcterms:created xsi:type="dcterms:W3CDTF">2026-03-15T12:47:40Z</dcterms:created>
  <dcterms:modified xsi:type="dcterms:W3CDTF">2026-03-16T16:04:39Z</dcterms:modified>
</cp:coreProperties>
</file>