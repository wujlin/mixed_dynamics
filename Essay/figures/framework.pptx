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98AD"/>
    <a:srgbClr val="E0CAD5"/>
    <a:srgbClr val="E5D3DC"/>
    <a:srgbClr val="E8D0DF"/>
    <a:srgbClr val="EBCDE1"/>
    <a:srgbClr val="F3C5E6"/>
    <a:srgbClr val="F0C8EB"/>
    <a:srgbClr val="EAB089"/>
    <a:srgbClr val="F0C6AA"/>
    <a:srgbClr val="F4D7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2F9051-F412-42AB-9989-118C360752E7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BBAC19-8A5C-44BF-9392-3E6F19E7AB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709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933D1D-6F62-6F49-3D8F-E7A1D4875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D20552-B0D7-AAAE-CE2E-AF08912CF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0E23E1-D042-4481-B472-12F6FA5B7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C7BD0-5EFB-4BD4-886A-F717BF8C53C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B2B38F-2D5C-4A9A-6778-93365C837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5C5E9C-A268-DF18-09D0-E64D889A2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599D-F9B6-4204-AA3D-A14C4BD165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063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1965DB-1702-167E-12DB-D901CD922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2E7499-77F3-89F6-11A1-56850EA89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B20F84-5829-DF17-024A-CB167C090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C7BD0-5EFB-4BD4-886A-F717BF8C53C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CA113A-C8D7-570F-D861-104A530A2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FC750-5C96-35FB-B005-9011DFCFD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599D-F9B6-4204-AA3D-A14C4BD165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68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92EC3E-F6DE-463E-9EEF-09F393088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28F44E-5BA0-DF9E-5079-341308167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3D2694-1FB2-446B-A111-BB5AD4607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C7BD0-5EFB-4BD4-886A-F717BF8C53C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EE944C-1E25-8960-382E-AA17F730B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AE968F-DFC1-4744-E444-813BB467F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599D-F9B6-4204-AA3D-A14C4BD165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675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9B02-105D-BA70-AFA6-125010DC1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4ED91D-F23C-748A-1510-CD01B229F3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01EB59-CFAE-CFA4-A45B-2797B1FC4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8B23AE-C581-7AA9-E99F-6C6A537F0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C7BD0-5EFB-4BD4-886A-F717BF8C53C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AD6466-DFB8-BB31-0997-48536FC84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7530B0-52CC-328B-8ED9-3EECE267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599D-F9B6-4204-AA3D-A14C4BD165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706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0449BB-9140-1792-6D82-8776C75D2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35A485-DDD0-6C8F-B4DD-113202C3E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68C5BF-1549-5D23-E30C-6E0236C0B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66A199B-BA37-F4D8-2678-52582608E3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F25C372-706D-7A19-0327-38BDB35994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11635A7-F5A9-22D2-090D-B4F184EC0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C7BD0-5EFB-4BD4-886A-F717BF8C53C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378B7AC-C7D4-C31A-8FC2-910751C5A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1E6BF8-C747-6189-F458-7405983C8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599D-F9B6-4204-AA3D-A14C4BD165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846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9D2A2E-0F79-70BD-43BF-D33B37CA5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3E47502-1C2D-6168-1E6E-84D6979DF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C7BD0-5EFB-4BD4-886A-F717BF8C53C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D18246-5265-D4AC-8C8E-061484E7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C5A7F3-79CF-3AF4-9A7E-4175A2CDA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599D-F9B6-4204-AA3D-A14C4BD165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772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7828B70-9B9F-C34F-C082-FB662265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C7BD0-5EFB-4BD4-886A-F717BF8C53C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1B7C91-3960-9782-0C77-A896560CD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93D477-2C92-F23C-723D-067F4273C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599D-F9B6-4204-AA3D-A14C4BD165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990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4E4168-FF3F-1734-77B5-358A59683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D487B5-E566-F06C-561E-8583F217D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E4EEF0-C69C-3512-3651-C27F60062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85F85B-1797-9893-C4B5-BB13AF900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C7BD0-5EFB-4BD4-886A-F717BF8C53C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769E16-C49A-45F0-3C3A-2D6BA61A7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A6CAF5-05BF-33CE-1591-154554BBD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599D-F9B6-4204-AA3D-A14C4BD165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861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2EFACE-32C3-E716-7300-B71B93161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1A346DB-E8D1-76F2-F236-DE7EB2BD26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576F69-B1F4-CC61-D03B-F9B3018DD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37DB0D-734A-09BD-AD7B-F56E75D1F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C7BD0-5EFB-4BD4-886A-F717BF8C53C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7CF481-5399-5BBB-B2AC-6ED24A281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E676DE-EEE4-F611-1EF0-E7945546F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599D-F9B6-4204-AA3D-A14C4BD165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11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7C8709-09C6-237D-0FDB-0E4AFB499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117404-8E0B-B16A-BDA1-B53C15DB2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8C5DBD-1831-7B32-A4CB-741895A57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C7BD0-5EFB-4BD4-886A-F717BF8C53C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55FC65-B7D3-FEB6-68D0-76DB10833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23BF61-96B4-7012-CA0C-4CB1E55C6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599D-F9B6-4204-AA3D-A14C4BD165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47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F31433E-5681-182B-B1ED-1121CE5D0A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71E3EB4-0A69-2C62-7892-BB03C8579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C583D6-2897-067F-89FC-F26ECCAF5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C7BD0-5EFB-4BD4-886A-F717BF8C53C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1B4E9D-A228-A58D-404E-1984931CB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F4FE57-E251-D570-AE46-852998753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7599D-F9B6-4204-AA3D-A14C4BD165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204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4A71AB6-0EC3-19A9-720F-DA52C506C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B16C85-EA78-68BB-7619-F8AE13E7B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AECF67-0966-334D-8ECB-1557CF6215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C7BD0-5EFB-4BD4-886A-F717BF8C53CD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35FF8E-06D3-BA5B-D7C6-97611CD93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D5D579-5DC2-79F7-D7CA-5ABC0EF276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C7599D-F9B6-4204-AA3D-A14C4BD165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5013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svg"/><Relationship Id="rId34" Type="http://schemas.openxmlformats.org/officeDocument/2006/relationships/image" Target="../media/image33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sv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矩形: 圆角 125">
            <a:extLst>
              <a:ext uri="{FF2B5EF4-FFF2-40B4-BE49-F238E27FC236}">
                <a16:creationId xmlns:a16="http://schemas.microsoft.com/office/drawing/2014/main" id="{2D33ADEB-DBFF-B036-7A89-9335AF067886}"/>
              </a:ext>
            </a:extLst>
          </p:cNvPr>
          <p:cNvSpPr/>
          <p:nvPr/>
        </p:nvSpPr>
        <p:spPr>
          <a:xfrm>
            <a:off x="8348028" y="358808"/>
            <a:ext cx="3840270" cy="5810019"/>
          </a:xfrm>
          <a:prstGeom prst="roundRect">
            <a:avLst/>
          </a:prstGeom>
          <a:solidFill>
            <a:srgbClr val="F4D7C4"/>
          </a:solidFill>
          <a:ln>
            <a:solidFill>
              <a:srgbClr val="EAB0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FB4E8DCA-2CC9-15C6-8B2F-02DED73ACC76}"/>
              </a:ext>
            </a:extLst>
          </p:cNvPr>
          <p:cNvSpPr/>
          <p:nvPr/>
        </p:nvSpPr>
        <p:spPr>
          <a:xfrm>
            <a:off x="4205813" y="324994"/>
            <a:ext cx="3893244" cy="5799645"/>
          </a:xfrm>
          <a:prstGeom prst="roundRect">
            <a:avLst/>
          </a:prstGeom>
          <a:solidFill>
            <a:srgbClr val="EBF3FB"/>
          </a:solidFill>
          <a:ln>
            <a:solidFill>
              <a:srgbClr val="4687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771B2E0E-3122-0248-6689-7BEA413228AA}"/>
              </a:ext>
            </a:extLst>
          </p:cNvPr>
          <p:cNvSpPr/>
          <p:nvPr/>
        </p:nvSpPr>
        <p:spPr>
          <a:xfrm>
            <a:off x="47875" y="324994"/>
            <a:ext cx="3980422" cy="5799645"/>
          </a:xfrm>
          <a:prstGeom prst="roundRect">
            <a:avLst/>
          </a:prstGeom>
          <a:solidFill>
            <a:srgbClr val="E0CAD5"/>
          </a:solidFill>
          <a:ln>
            <a:solidFill>
              <a:srgbClr val="C298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箭头: 环形 11">
            <a:extLst>
              <a:ext uri="{FF2B5EF4-FFF2-40B4-BE49-F238E27FC236}">
                <a16:creationId xmlns:a16="http://schemas.microsoft.com/office/drawing/2014/main" id="{B207D05E-2584-7AA3-AFFC-F61DB83BD9C4}"/>
              </a:ext>
            </a:extLst>
          </p:cNvPr>
          <p:cNvSpPr>
            <a:spLocks/>
          </p:cNvSpPr>
          <p:nvPr/>
        </p:nvSpPr>
        <p:spPr>
          <a:xfrm flipH="1" flipV="1">
            <a:off x="2143093" y="1140627"/>
            <a:ext cx="1899161" cy="1857830"/>
          </a:xfrm>
          <a:prstGeom prst="circularArrow">
            <a:avLst>
              <a:gd name="adj1" fmla="val 5298"/>
              <a:gd name="adj2" fmla="val 1288521"/>
              <a:gd name="adj3" fmla="val 18298709"/>
              <a:gd name="adj4" fmla="val 10800000"/>
              <a:gd name="adj5" fmla="val 10854"/>
            </a:avLst>
          </a:prstGeom>
          <a:solidFill>
            <a:srgbClr val="558FC1"/>
          </a:solidFill>
          <a:ln w="1047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FDE6FAE-20CD-6881-548A-90BF8288FE5D}"/>
              </a:ext>
            </a:extLst>
          </p:cNvPr>
          <p:cNvSpPr>
            <a:spLocks/>
          </p:cNvSpPr>
          <p:nvPr/>
        </p:nvSpPr>
        <p:spPr>
          <a:xfrm>
            <a:off x="1447924" y="1286174"/>
            <a:ext cx="1277415" cy="1196225"/>
          </a:xfrm>
          <a:prstGeom prst="ellipse">
            <a:avLst/>
          </a:prstGeom>
          <a:gradFill flip="none" rotWithShape="1">
            <a:gsLst>
              <a:gs pos="37000">
                <a:srgbClr val="EA7F62"/>
              </a:gs>
              <a:gs pos="68000">
                <a:srgbClr val="558FC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箭头: 环形 18">
            <a:extLst>
              <a:ext uri="{FF2B5EF4-FFF2-40B4-BE49-F238E27FC236}">
                <a16:creationId xmlns:a16="http://schemas.microsoft.com/office/drawing/2014/main" id="{6BEA1F3A-A625-35F0-7151-3030220708B7}"/>
              </a:ext>
            </a:extLst>
          </p:cNvPr>
          <p:cNvSpPr>
            <a:spLocks/>
          </p:cNvSpPr>
          <p:nvPr/>
        </p:nvSpPr>
        <p:spPr>
          <a:xfrm flipH="1">
            <a:off x="2179350" y="743176"/>
            <a:ext cx="1857421" cy="1975946"/>
          </a:xfrm>
          <a:prstGeom prst="circularArrow">
            <a:avLst>
              <a:gd name="adj1" fmla="val 5632"/>
              <a:gd name="adj2" fmla="val 1310185"/>
              <a:gd name="adj3" fmla="val 18310161"/>
              <a:gd name="adj4" fmla="val 10800000"/>
              <a:gd name="adj5" fmla="val 9202"/>
            </a:avLst>
          </a:prstGeom>
          <a:solidFill>
            <a:srgbClr val="558FC1"/>
          </a:solidFill>
          <a:ln w="1047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箭头: 环形 19">
            <a:extLst>
              <a:ext uri="{FF2B5EF4-FFF2-40B4-BE49-F238E27FC236}">
                <a16:creationId xmlns:a16="http://schemas.microsoft.com/office/drawing/2014/main" id="{303F196A-8898-B7A5-AD4B-BB23AE92E8B8}"/>
              </a:ext>
            </a:extLst>
          </p:cNvPr>
          <p:cNvSpPr>
            <a:spLocks/>
          </p:cNvSpPr>
          <p:nvPr/>
        </p:nvSpPr>
        <p:spPr>
          <a:xfrm flipV="1">
            <a:off x="-46305" y="987736"/>
            <a:ext cx="1996681" cy="2012884"/>
          </a:xfrm>
          <a:prstGeom prst="circularArrow">
            <a:avLst>
              <a:gd name="adj1" fmla="val 6997"/>
              <a:gd name="adj2" fmla="val 1148419"/>
              <a:gd name="adj3" fmla="val 18148279"/>
              <a:gd name="adj4" fmla="val 10800000"/>
              <a:gd name="adj5" fmla="val 12469"/>
            </a:avLst>
          </a:prstGeom>
          <a:solidFill>
            <a:srgbClr val="EA7F62">
              <a:alpha val="70000"/>
            </a:srgbClr>
          </a:solidFill>
          <a:ln w="1047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箭头: 环形 20">
            <a:extLst>
              <a:ext uri="{FF2B5EF4-FFF2-40B4-BE49-F238E27FC236}">
                <a16:creationId xmlns:a16="http://schemas.microsoft.com/office/drawing/2014/main" id="{9E7371F7-E47C-920F-9B8B-0507A4ADB19D}"/>
              </a:ext>
            </a:extLst>
          </p:cNvPr>
          <p:cNvSpPr>
            <a:spLocks/>
          </p:cNvSpPr>
          <p:nvPr/>
        </p:nvSpPr>
        <p:spPr>
          <a:xfrm>
            <a:off x="3702" y="728140"/>
            <a:ext cx="1996681" cy="2012884"/>
          </a:xfrm>
          <a:prstGeom prst="circularArrow">
            <a:avLst>
              <a:gd name="adj1" fmla="val 7475"/>
              <a:gd name="adj2" fmla="val 1241383"/>
              <a:gd name="adj3" fmla="val 18274368"/>
              <a:gd name="adj4" fmla="val 10800000"/>
              <a:gd name="adj5" fmla="val 9586"/>
            </a:avLst>
          </a:prstGeom>
          <a:solidFill>
            <a:srgbClr val="EA7F62">
              <a:alpha val="70000"/>
            </a:srgbClr>
          </a:solidFill>
          <a:ln w="1047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图形 25">
            <a:extLst>
              <a:ext uri="{FF2B5EF4-FFF2-40B4-BE49-F238E27FC236}">
                <a16:creationId xmlns:a16="http://schemas.microsoft.com/office/drawing/2014/main" id="{8AADFA40-2A5F-6A24-E68D-AC0F97E13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835" y="3677159"/>
            <a:ext cx="3021167" cy="21703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4E61AB4-E97D-9DAB-0362-C72714E69B7E}"/>
                  </a:ext>
                </a:extLst>
              </p:cNvPr>
              <p:cNvSpPr txBox="1"/>
              <p:nvPr/>
            </p:nvSpPr>
            <p:spPr>
              <a:xfrm>
                <a:off x="1171092" y="1686139"/>
                <a:ext cx="1889709" cy="5566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1200"/>
                  </a:lnSpc>
                  <a:spcAft>
                    <a:spcPts val="1100"/>
                  </a:spcAft>
                  <a:buNone/>
                </a:pPr>
                <a:r>
                  <a:rPr lang="en-US" altLang="zh-CN" sz="1400"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Collective state</a:t>
                </a:r>
              </a:p>
              <a:p>
                <a:pPr algn="ctr">
                  <a:lnSpc>
                    <a:spcPts val="1200"/>
                  </a:lnSpc>
                  <a:spcAft>
                    <a:spcPts val="1100"/>
                  </a:spcAft>
                  <a:buNone/>
                </a:pPr>
                <a:r>
                  <a:rPr lang="en-US" altLang="zh-CN" sz="1400"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4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4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altLang="zh-CN" sz="14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400" i="1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sz="14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140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4E61AB4-E97D-9DAB-0362-C72714E69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092" y="1686139"/>
                <a:ext cx="1889709" cy="556691"/>
              </a:xfrm>
              <a:prstGeom prst="rect">
                <a:avLst/>
              </a:prstGeom>
              <a:blipFill>
                <a:blip r:embed="rId4"/>
                <a:stretch>
                  <a:fillRect t="-12088" b="-32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028C3D8B-510E-37DA-B41A-7CB88A2A3C3D}"/>
              </a:ext>
            </a:extLst>
          </p:cNvPr>
          <p:cNvSpPr txBox="1"/>
          <p:nvPr/>
        </p:nvSpPr>
        <p:spPr>
          <a:xfrm rot="16200000">
            <a:off x="-469458" y="4471058"/>
            <a:ext cx="1499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Polarization q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1D6FA56C-867A-B012-813A-8FB33866C2B5}"/>
                  </a:ext>
                </a:extLst>
              </p:cNvPr>
              <p:cNvSpPr txBox="1"/>
              <p:nvPr/>
            </p:nvSpPr>
            <p:spPr>
              <a:xfrm>
                <a:off x="925372" y="3277792"/>
                <a:ext cx="27043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>
                    <a:effectLst/>
                    <a:latin typeface="Times New Roman" panose="02020603050405020304" pitchFamily="18" charset="0"/>
                    <a:ea typeface="Georgia" panose="02040502050405020303" pitchFamily="18" charset="0"/>
                    <a:cs typeface="Times New Roman" panose="02020603050405020304" pitchFamily="18" charset="0"/>
                  </a:rPr>
                  <a:t>Pitchfork bifurcation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800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1D6FA56C-867A-B012-813A-8FB33866C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72" y="3277792"/>
                <a:ext cx="2704307" cy="369332"/>
              </a:xfrm>
              <a:prstGeom prst="rect">
                <a:avLst/>
              </a:prstGeom>
              <a:blipFill>
                <a:blip r:embed="rId5"/>
                <a:stretch>
                  <a:fillRect l="-2032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>
            <a:extLst>
              <a:ext uri="{FF2B5EF4-FFF2-40B4-BE49-F238E27FC236}">
                <a16:creationId xmlns:a16="http://schemas.microsoft.com/office/drawing/2014/main" id="{6C3D5913-259E-35E1-6B0D-7C3F9F26A086}"/>
              </a:ext>
            </a:extLst>
          </p:cNvPr>
          <p:cNvSpPr txBox="1"/>
          <p:nvPr/>
        </p:nvSpPr>
        <p:spPr>
          <a:xfrm>
            <a:off x="270988" y="1544544"/>
            <a:ext cx="13084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>
                <a:effectLst/>
                <a:latin typeface="Times New Roman" panose="02020603050405020304" pitchFamily="18" charset="0"/>
                <a:ea typeface="Georgia" panose="02040502050405020303" pitchFamily="18" charset="0"/>
                <a:cs typeface="Times New Roman" panose="02020603050405020304" pitchFamily="18" charset="0"/>
              </a:rPr>
              <a:t>Amplifying</a:t>
            </a:r>
          </a:p>
          <a:p>
            <a:r>
              <a:rPr lang="en-US" altLang="zh-CN" sz="1600">
                <a:effectLst/>
                <a:latin typeface="Times New Roman" panose="02020603050405020304" pitchFamily="18" charset="0"/>
                <a:ea typeface="Georgia" panose="02040502050405020303" pitchFamily="18" charset="0"/>
                <a:cs typeface="Times New Roman" panose="02020603050405020304" pitchFamily="18" charset="0"/>
              </a:rPr>
              <a:t> (We-media)</a:t>
            </a:r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98B87FB-1C2E-1AD6-6477-43687A522D69}"/>
              </a:ext>
            </a:extLst>
          </p:cNvPr>
          <p:cNvSpPr txBox="1"/>
          <p:nvPr/>
        </p:nvSpPr>
        <p:spPr>
          <a:xfrm>
            <a:off x="2725339" y="1518721"/>
            <a:ext cx="13879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>
                <a:effectLst/>
                <a:latin typeface="Times New Roman" panose="02020603050405020304" pitchFamily="18" charset="0"/>
                <a:ea typeface="Georgia" panose="02040502050405020303" pitchFamily="18" charset="0"/>
                <a:cs typeface="Times New Roman" panose="02020603050405020304" pitchFamily="18" charset="0"/>
              </a:rPr>
              <a:t>Stabilizing</a:t>
            </a:r>
          </a:p>
          <a:p>
            <a:r>
              <a:rPr lang="en-US" altLang="zh-CN" sz="1600">
                <a:effectLst/>
                <a:latin typeface="Times New Roman" panose="02020603050405020304" pitchFamily="18" charset="0"/>
                <a:ea typeface="Georgia" panose="02040502050405020303" pitchFamily="18" charset="0"/>
                <a:cs typeface="Times New Roman" panose="02020603050405020304" pitchFamily="18" charset="0"/>
              </a:rPr>
              <a:t>(Mainstream)</a:t>
            </a:r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B4E2850-7F8F-699F-41AD-10E9E58DAF6F}"/>
              </a:ext>
            </a:extLst>
          </p:cNvPr>
          <p:cNvSpPr txBox="1"/>
          <p:nvPr/>
        </p:nvSpPr>
        <p:spPr>
          <a:xfrm>
            <a:off x="968970" y="358808"/>
            <a:ext cx="2540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>
                <a:effectLst/>
                <a:latin typeface="Times New Roman" panose="02020603050405020304" pitchFamily="18" charset="0"/>
                <a:ea typeface="Georgia" panose="02040502050405020303" pitchFamily="18" charset="0"/>
                <a:cs typeface="Times New Roman" panose="02020603050405020304" pitchFamily="18" charset="0"/>
              </a:rPr>
              <a:t>Theoretical Mechanism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D4EB7D8-509C-BCA8-4EF6-48FBDCEA96AD}"/>
              </a:ext>
            </a:extLst>
          </p:cNvPr>
          <p:cNvSpPr txBox="1"/>
          <p:nvPr/>
        </p:nvSpPr>
        <p:spPr>
          <a:xfrm>
            <a:off x="5182659" y="424541"/>
            <a:ext cx="22000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>
                <a:effectLst/>
                <a:latin typeface="Times New Roman" panose="02020603050405020304" pitchFamily="18" charset="0"/>
                <a:ea typeface="Georgia" panose="02040502050405020303" pitchFamily="18" charset="0"/>
                <a:cs typeface="Times New Roman" panose="02020603050405020304" pitchFamily="18" charset="0"/>
              </a:rPr>
              <a:t>Agent-Based Model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4212033E-067B-1E06-2933-6911CA3A15B8}"/>
              </a:ext>
            </a:extLst>
          </p:cNvPr>
          <p:cNvSpPr/>
          <p:nvPr/>
        </p:nvSpPr>
        <p:spPr>
          <a:xfrm>
            <a:off x="4648758" y="3082157"/>
            <a:ext cx="272226" cy="247162"/>
          </a:xfrm>
          <a:prstGeom prst="ellipse">
            <a:avLst/>
          </a:prstGeom>
          <a:solidFill>
            <a:srgbClr val="D24D3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E9E86878-0DAC-78A1-DE2E-C4C3FFB7776D}"/>
              </a:ext>
            </a:extLst>
          </p:cNvPr>
          <p:cNvSpPr/>
          <p:nvPr/>
        </p:nvSpPr>
        <p:spPr>
          <a:xfrm>
            <a:off x="5794415" y="3082157"/>
            <a:ext cx="272226" cy="247162"/>
          </a:xfrm>
          <a:prstGeom prst="ellipse">
            <a:avLst/>
          </a:prstGeom>
          <a:solidFill>
            <a:srgbClr val="AEACA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9509D658-0E21-734F-B44D-A38055262EBD}"/>
              </a:ext>
            </a:extLst>
          </p:cNvPr>
          <p:cNvSpPr/>
          <p:nvPr/>
        </p:nvSpPr>
        <p:spPr>
          <a:xfrm>
            <a:off x="6984220" y="3055832"/>
            <a:ext cx="272226" cy="247162"/>
          </a:xfrm>
          <a:prstGeom prst="ellipse">
            <a:avLst/>
          </a:prstGeom>
          <a:solidFill>
            <a:srgbClr val="4687B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340F4CE-9C1B-A46F-D0FC-80F259D2959C}"/>
              </a:ext>
            </a:extLst>
          </p:cNvPr>
          <p:cNvSpPr txBox="1"/>
          <p:nvPr/>
        </p:nvSpPr>
        <p:spPr>
          <a:xfrm>
            <a:off x="4897733" y="2953592"/>
            <a:ext cx="8774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>
                <a:effectLst/>
                <a:latin typeface="Times New Roman" panose="02020603050405020304" pitchFamily="18" charset="0"/>
                <a:ea typeface="Georgia" panose="02040502050405020303" pitchFamily="18" charset="0"/>
                <a:cs typeface="Times New Roman" panose="02020603050405020304" pitchFamily="18" charset="0"/>
              </a:rPr>
              <a:t>High </a:t>
            </a:r>
          </a:p>
          <a:p>
            <a:pPr algn="ctr"/>
            <a:r>
              <a:rPr lang="en-US" altLang="zh-CN" sz="1400">
                <a:effectLst/>
                <a:latin typeface="Times New Roman" panose="02020603050405020304" pitchFamily="18" charset="0"/>
                <a:ea typeface="Georgia" panose="02040502050405020303" pitchFamily="18" charset="0"/>
                <a:cs typeface="Times New Roman" panose="02020603050405020304" pitchFamily="18" charset="0"/>
              </a:rPr>
              <a:t>Arousal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00FF624-828D-BC28-33E7-BFE71BED6CBC}"/>
              </a:ext>
            </a:extLst>
          </p:cNvPr>
          <p:cNvSpPr txBox="1"/>
          <p:nvPr/>
        </p:nvSpPr>
        <p:spPr>
          <a:xfrm>
            <a:off x="6104850" y="3042211"/>
            <a:ext cx="8986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>
                <a:effectLst/>
                <a:latin typeface="Times New Roman" panose="02020603050405020304" pitchFamily="18" charset="0"/>
                <a:ea typeface="Georgia" panose="02040502050405020303" pitchFamily="18" charset="0"/>
                <a:cs typeface="Times New Roman" panose="02020603050405020304" pitchFamily="18" charset="0"/>
              </a:rPr>
              <a:t>Moderate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DE971E7-6BDA-97D5-69EA-1783690C79A0}"/>
              </a:ext>
            </a:extLst>
          </p:cNvPr>
          <p:cNvSpPr txBox="1"/>
          <p:nvPr/>
        </p:nvSpPr>
        <p:spPr>
          <a:xfrm>
            <a:off x="7257823" y="2910753"/>
            <a:ext cx="7679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>
                <a:effectLst/>
                <a:latin typeface="Times New Roman" panose="02020603050405020304" pitchFamily="18" charset="0"/>
                <a:ea typeface="Georgia" panose="02040502050405020303" pitchFamily="18" charset="0"/>
                <a:cs typeface="Times New Roman" panose="02020603050405020304" pitchFamily="18" charset="0"/>
              </a:rPr>
              <a:t>Low </a:t>
            </a:r>
          </a:p>
          <a:p>
            <a:pPr algn="ctr"/>
            <a:r>
              <a:rPr lang="en-US" altLang="zh-CN" sz="1400">
                <a:effectLst/>
                <a:latin typeface="Times New Roman" panose="02020603050405020304" pitchFamily="18" charset="0"/>
                <a:ea typeface="Georgia" panose="02040502050405020303" pitchFamily="18" charset="0"/>
                <a:cs typeface="Times New Roman" panose="02020603050405020304" pitchFamily="18" charset="0"/>
              </a:rPr>
              <a:t>Arousal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8" name="图形 57">
            <a:extLst>
              <a:ext uri="{FF2B5EF4-FFF2-40B4-BE49-F238E27FC236}">
                <a16:creationId xmlns:a16="http://schemas.microsoft.com/office/drawing/2014/main" id="{9B8EBEE0-3E48-D7DA-B8B3-0B9ABF44B6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0063" y="3991672"/>
            <a:ext cx="461051" cy="4003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1C47F73A-51E8-5084-3647-56B9CA683791}"/>
                  </a:ext>
                </a:extLst>
              </p:cNvPr>
              <p:cNvSpPr txBox="1"/>
              <p:nvPr/>
            </p:nvSpPr>
            <p:spPr>
              <a:xfrm>
                <a:off x="5085668" y="4803784"/>
                <a:ext cx="248114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effectLst/>
                    <a:latin typeface="Times New Roman" panose="02020603050405020304" pitchFamily="18" charset="0"/>
                    <a:ea typeface="等线" panose="02010600030101010101" pitchFamily="2" charset="-122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mtClean="0">
                          <a:cs typeface="Times New Roman" panose="02020603050405020304" pitchFamily="18" charset="0"/>
                        </a:rPr>
                        <m:t>Sample</m:t>
                      </m:r>
                      <m:r>
                        <m:rPr>
                          <m:nor/>
                        </m:rPr>
                        <a:rPr lang="en-US" altLang="zh-CN" smtClean="0"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nor/>
                        </m:rPr>
                        <a:rPr lang="en-US" altLang="zh-CN" smtClean="0"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mtClean="0">
                          <a:cs typeface="Times New Roman" panose="02020603050405020304" pitchFamily="18" charset="0"/>
                        </a:rPr>
                        <m:t>cues</m:t>
                      </m:r>
                      <m:r>
                        <m:rPr>
                          <m:nor/>
                        </m:rPr>
                        <a:rPr lang="en-US" altLang="zh-CN" smtClean="0"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mtClean="0">
                          <a:latin typeface="Cambria Math" panose="02040503050406030204" pitchFamily="18" charset="0"/>
                        </a:rPr>
                        <m:t>→</m:t>
                      </m:r>
                      <m:acc>
                        <m:accPr>
                          <m:chr m:val="̂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altLang="zh-CN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nor/>
                        </m:rPr>
                        <a:rPr lang="en-US" altLang="zh-CN" smtClean="0"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mtClean="0">
                          <a:cs typeface="Times New Roman" panose="02020603050405020304" pitchFamily="18" charset="0"/>
                        </a:rPr>
                        <m:t>thresholds</m:t>
                      </m:r>
                      <m:r>
                        <m:rPr>
                          <m:nor/>
                        </m:rPr>
                        <a:rPr lang="en-US" altLang="zh-CN" smtClean="0"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1C47F73A-51E8-5084-3647-56B9CA683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668" y="4803784"/>
                <a:ext cx="2481144" cy="646331"/>
              </a:xfrm>
              <a:prstGeom prst="rect">
                <a:avLst/>
              </a:prstGeom>
              <a:blipFill>
                <a:blip r:embed="rId8"/>
                <a:stretch>
                  <a:fillRect t="-2830" b="-84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56482827-B350-CDFA-6B14-A863C4FE59F8}"/>
                  </a:ext>
                </a:extLst>
              </p:cNvPr>
              <p:cNvSpPr txBox="1"/>
              <p:nvPr/>
            </p:nvSpPr>
            <p:spPr>
              <a:xfrm>
                <a:off x="4808155" y="5445598"/>
                <a:ext cx="304741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>
                    <a:effectLst/>
                    <a:latin typeface="Times New Roman" panose="02020603050405020304" pitchFamily="18" charset="0"/>
                    <a:ea typeface="等线" panose="02010600030101010101" pitchFamily="2" charset="-122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>
                          <a:cs typeface="Times New Roman" panose="02020603050405020304" pitchFamily="18" charset="0"/>
                        </a:rPr>
                        <m:t>Topology</m:t>
                      </m:r>
                      <m:r>
                        <m:rPr>
                          <m:nor/>
                        </m:rPr>
                        <a:rPr lang="zh-CN" altLang="en-US"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>
                          <a:cs typeface="Times New Roman" panose="02020603050405020304" pitchFamily="18" charset="0"/>
                        </a:rPr>
                        <m:t>robustness</m:t>
                      </m:r>
                      <m:r>
                        <m:rPr>
                          <m:nor/>
                        </m:rPr>
                        <a:rPr lang="zh-CN" altLang="en-US">
                          <a:cs typeface="Times New Roman" panose="020206030504050203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zh-CN" altLang="en-US">
                          <a:cs typeface="Times New Roman" panose="02020603050405020304" pitchFamily="18" charset="0"/>
                        </a:rPr>
                        <m:t>ER</m:t>
                      </m:r>
                      <m:r>
                        <m:rPr>
                          <m:nor/>
                        </m:rPr>
                        <a:rPr lang="zh-CN" altLang="en-US">
                          <a:cs typeface="Times New Roman" panose="02020603050405020304" pitchFamily="18" charset="0"/>
                        </a:rPr>
                        <m:t>/</m:t>
                      </m:r>
                      <m:r>
                        <m:rPr>
                          <m:nor/>
                        </m:rPr>
                        <a:rPr lang="zh-CN" altLang="en-US">
                          <a:cs typeface="Times New Roman" panose="02020603050405020304" pitchFamily="18" charset="0"/>
                        </a:rPr>
                        <m:t>BA</m:t>
                      </m:r>
                      <m:r>
                        <m:rPr>
                          <m:nor/>
                        </m:rPr>
                        <a:rPr lang="zh-CN" altLang="en-US"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56482827-B350-CDFA-6B14-A863C4FE5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8155" y="5445598"/>
                <a:ext cx="3047418" cy="369332"/>
              </a:xfrm>
              <a:prstGeom prst="rect">
                <a:avLst/>
              </a:prstGeom>
              <a:blipFill>
                <a:blip r:embed="rId9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8" name="图形 67">
            <a:extLst>
              <a:ext uri="{FF2B5EF4-FFF2-40B4-BE49-F238E27FC236}">
                <a16:creationId xmlns:a16="http://schemas.microsoft.com/office/drawing/2014/main" id="{C03A8962-5C83-BF82-6E8F-0C57F2833D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47622" y="1088670"/>
            <a:ext cx="908914" cy="795616"/>
          </a:xfrm>
          <a:prstGeom prst="rect">
            <a:avLst/>
          </a:prstGeom>
        </p:spPr>
      </p:pic>
      <p:pic>
        <p:nvPicPr>
          <p:cNvPr id="70" name="图形 69">
            <a:extLst>
              <a:ext uri="{FF2B5EF4-FFF2-40B4-BE49-F238E27FC236}">
                <a16:creationId xmlns:a16="http://schemas.microsoft.com/office/drawing/2014/main" id="{DCB9AFE7-DF8D-4917-9833-9405151B891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70719" y="1069785"/>
            <a:ext cx="544568" cy="795616"/>
          </a:xfrm>
          <a:prstGeom prst="rect">
            <a:avLst/>
          </a:prstGeom>
        </p:spPr>
      </p:pic>
      <p:pic>
        <p:nvPicPr>
          <p:cNvPr id="72" name="图形 71">
            <a:extLst>
              <a:ext uri="{FF2B5EF4-FFF2-40B4-BE49-F238E27FC236}">
                <a16:creationId xmlns:a16="http://schemas.microsoft.com/office/drawing/2014/main" id="{E1849867-CC1A-DBA8-09F2-B807BB664B1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372056" y="1143305"/>
            <a:ext cx="519650" cy="665253"/>
          </a:xfrm>
          <a:prstGeom prst="rect">
            <a:avLst/>
          </a:prstGeom>
        </p:spPr>
      </p:pic>
      <p:sp>
        <p:nvSpPr>
          <p:cNvPr id="75" name="箭头: 右 74">
            <a:extLst>
              <a:ext uri="{FF2B5EF4-FFF2-40B4-BE49-F238E27FC236}">
                <a16:creationId xmlns:a16="http://schemas.microsoft.com/office/drawing/2014/main" id="{1584DD01-49B9-B63F-A3A5-D14B1AB0B3E5}"/>
              </a:ext>
            </a:extLst>
          </p:cNvPr>
          <p:cNvSpPr/>
          <p:nvPr/>
        </p:nvSpPr>
        <p:spPr>
          <a:xfrm>
            <a:off x="9590698" y="1430769"/>
            <a:ext cx="369948" cy="209404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箭头: 右 75">
            <a:extLst>
              <a:ext uri="{FF2B5EF4-FFF2-40B4-BE49-F238E27FC236}">
                <a16:creationId xmlns:a16="http://schemas.microsoft.com/office/drawing/2014/main" id="{6B02532B-DD0E-C6F8-2807-88D45E04996E}"/>
              </a:ext>
            </a:extLst>
          </p:cNvPr>
          <p:cNvSpPr/>
          <p:nvPr/>
        </p:nvSpPr>
        <p:spPr>
          <a:xfrm>
            <a:off x="10686723" y="1443927"/>
            <a:ext cx="369948" cy="209404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D4D3BCC3-2220-D093-4D96-5AC6948186EE}"/>
              </a:ext>
            </a:extLst>
          </p:cNvPr>
          <p:cNvSpPr txBox="1"/>
          <p:nvPr/>
        </p:nvSpPr>
        <p:spPr>
          <a:xfrm>
            <a:off x="8615440" y="1994178"/>
            <a:ext cx="698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effectLst/>
                <a:latin typeface="Times New Roman" panose="02020603050405020304" pitchFamily="18" charset="0"/>
                <a:ea typeface="Georgia" panose="02040502050405020303" pitchFamily="18" charset="0"/>
                <a:cs typeface="Times New Roman" panose="02020603050405020304" pitchFamily="18" charset="0"/>
              </a:rPr>
              <a:t>Posts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BA4A1416-CDF4-A112-9909-7009AB17D9BF}"/>
              </a:ext>
            </a:extLst>
          </p:cNvPr>
          <p:cNvSpPr txBox="1"/>
          <p:nvPr/>
        </p:nvSpPr>
        <p:spPr>
          <a:xfrm>
            <a:off x="9657969" y="1974014"/>
            <a:ext cx="12017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effectLst/>
                <a:latin typeface="Times New Roman" panose="02020603050405020304" pitchFamily="18" charset="0"/>
                <a:ea typeface="Georgia" panose="02040502050405020303" pitchFamily="18" charset="0"/>
                <a:cs typeface="Times New Roman" panose="02020603050405020304" pitchFamily="18" charset="0"/>
              </a:rPr>
              <a:t>Processing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51BA0041-BED9-BD16-933B-AA1D0A719A9B}"/>
              </a:ext>
            </a:extLst>
          </p:cNvPr>
          <p:cNvSpPr txBox="1"/>
          <p:nvPr/>
        </p:nvSpPr>
        <p:spPr>
          <a:xfrm>
            <a:off x="10920917" y="1974014"/>
            <a:ext cx="1421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effectLst/>
                <a:latin typeface="Times New Roman" panose="02020603050405020304" pitchFamily="18" charset="0"/>
                <a:ea typeface="Georgia" panose="02040502050405020303" pitchFamily="18" charset="0"/>
                <a:cs typeface="Times New Roman" panose="02020603050405020304" pitchFamily="18" charset="0"/>
              </a:rPr>
              <a:t>Time Series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A49589CA-686C-2C2C-29F1-5FC8A7E68B64}"/>
                  </a:ext>
                </a:extLst>
              </p:cNvPr>
              <p:cNvSpPr txBox="1"/>
              <p:nvPr/>
            </p:nvSpPr>
            <p:spPr>
              <a:xfrm>
                <a:off x="9068071" y="5557657"/>
                <a:ext cx="698355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A49589CA-686C-2C2C-29F1-5FC8A7E68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8071" y="5557657"/>
                <a:ext cx="698355" cy="5078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5EBF85CD-688D-DF52-598E-3BB8D38D1901}"/>
                  </a:ext>
                </a:extLst>
              </p:cNvPr>
              <p:cNvSpPr txBox="1"/>
              <p:nvPr/>
            </p:nvSpPr>
            <p:spPr>
              <a:xfrm>
                <a:off x="10925121" y="5680314"/>
                <a:ext cx="984671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𝑝𝑟𝑜𝑥𝑦</m:t>
                          </m:r>
                        </m:sub>
                      </m:sSub>
                    </m:oMath>
                  </m:oMathPara>
                </a14:m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5EBF85CD-688D-DF52-598E-3BB8D38D1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5121" y="5680314"/>
                <a:ext cx="984671" cy="391261"/>
              </a:xfrm>
              <a:prstGeom prst="rect">
                <a:avLst/>
              </a:prstGeom>
              <a:blipFill>
                <a:blip r:embed="rId17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文本框 97">
            <a:extLst>
              <a:ext uri="{FF2B5EF4-FFF2-40B4-BE49-F238E27FC236}">
                <a16:creationId xmlns:a16="http://schemas.microsoft.com/office/drawing/2014/main" id="{E8F709BA-B268-A7E9-06A5-2DF3C980B3D2}"/>
              </a:ext>
            </a:extLst>
          </p:cNvPr>
          <p:cNvSpPr txBox="1"/>
          <p:nvPr/>
        </p:nvSpPr>
        <p:spPr>
          <a:xfrm>
            <a:off x="10127675" y="10073292"/>
            <a:ext cx="6983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>
                <a:effectLst/>
                <a:latin typeface="Times New Roman" panose="02020603050405020304" pitchFamily="18" charset="0"/>
                <a:ea typeface="Georgia" panose="02040502050405020303" pitchFamily="18" charset="0"/>
                <a:cs typeface="Times New Roman" panose="02020603050405020304" pitchFamily="18" charset="0"/>
              </a:rPr>
              <a:t>Posts</a:t>
            </a:r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0FF3C486-457D-DA77-EB03-B6B61425DC72}"/>
              </a:ext>
            </a:extLst>
          </p:cNvPr>
          <p:cNvSpPr txBox="1"/>
          <p:nvPr/>
        </p:nvSpPr>
        <p:spPr>
          <a:xfrm>
            <a:off x="9296869" y="454784"/>
            <a:ext cx="2288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>
                <a:effectLst/>
                <a:latin typeface="Times New Roman" panose="02020603050405020304" pitchFamily="18" charset="0"/>
                <a:ea typeface="Georgia" panose="02040502050405020303" pitchFamily="18" charset="0"/>
                <a:cs typeface="Times New Roman" panose="02020603050405020304" pitchFamily="18" charset="0"/>
              </a:rPr>
              <a:t>Empirical Validation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" name="图形 129">
            <a:extLst>
              <a:ext uri="{FF2B5EF4-FFF2-40B4-BE49-F238E27FC236}">
                <a16:creationId xmlns:a16="http://schemas.microsoft.com/office/drawing/2014/main" id="{169CC908-F5D8-5A58-D0D3-E149B92D8E7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880957" y="996339"/>
            <a:ext cx="2698065" cy="2005195"/>
          </a:xfrm>
          <a:prstGeom prst="rect">
            <a:avLst/>
          </a:prstGeom>
        </p:spPr>
      </p:pic>
      <p:pic>
        <p:nvPicPr>
          <p:cNvPr id="140" name="图形 139">
            <a:extLst>
              <a:ext uri="{FF2B5EF4-FFF2-40B4-BE49-F238E27FC236}">
                <a16:creationId xmlns:a16="http://schemas.microsoft.com/office/drawing/2014/main" id="{7D093F26-6512-5C5C-8D1A-4FCD98BB67D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79168" y="3693420"/>
            <a:ext cx="1143946" cy="1069429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EFB35A37-16E9-6C34-31C7-6F910AB98144}"/>
              </a:ext>
            </a:extLst>
          </p:cNvPr>
          <p:cNvSpPr/>
          <p:nvPr/>
        </p:nvSpPr>
        <p:spPr>
          <a:xfrm>
            <a:off x="8662692" y="2622875"/>
            <a:ext cx="3367095" cy="1660033"/>
          </a:xfrm>
          <a:prstGeom prst="roundRect">
            <a:avLst/>
          </a:prstGeom>
          <a:solidFill>
            <a:srgbClr val="F0C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2" name="图形 141">
            <a:extLst>
              <a:ext uri="{FF2B5EF4-FFF2-40B4-BE49-F238E27FC236}">
                <a16:creationId xmlns:a16="http://schemas.microsoft.com/office/drawing/2014/main" id="{4A2022B5-E259-6D61-0F05-33508DAE043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679698" y="3704758"/>
            <a:ext cx="1203320" cy="996414"/>
          </a:xfrm>
          <a:prstGeom prst="rect">
            <a:avLst/>
          </a:prstGeom>
        </p:spPr>
      </p:pic>
      <p:sp>
        <p:nvSpPr>
          <p:cNvPr id="144" name="箭头: 右 143">
            <a:extLst>
              <a:ext uri="{FF2B5EF4-FFF2-40B4-BE49-F238E27FC236}">
                <a16:creationId xmlns:a16="http://schemas.microsoft.com/office/drawing/2014/main" id="{F384E482-BF45-AA93-4A95-33A65788DA96}"/>
              </a:ext>
            </a:extLst>
          </p:cNvPr>
          <p:cNvSpPr/>
          <p:nvPr/>
        </p:nvSpPr>
        <p:spPr>
          <a:xfrm>
            <a:off x="7895380" y="3280374"/>
            <a:ext cx="767968" cy="440122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箭头: 右 142">
            <a:extLst>
              <a:ext uri="{FF2B5EF4-FFF2-40B4-BE49-F238E27FC236}">
                <a16:creationId xmlns:a16="http://schemas.microsoft.com/office/drawing/2014/main" id="{501A27BA-D86A-D32E-A9E8-11DB21B256F2}"/>
              </a:ext>
            </a:extLst>
          </p:cNvPr>
          <p:cNvSpPr/>
          <p:nvPr/>
        </p:nvSpPr>
        <p:spPr>
          <a:xfrm>
            <a:off x="3771183" y="3263817"/>
            <a:ext cx="733525" cy="440123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600644A7-448A-7E28-114A-E1F7D58EA181}"/>
                  </a:ext>
                </a:extLst>
              </p:cNvPr>
              <p:cNvSpPr txBox="1"/>
              <p:nvPr/>
            </p:nvSpPr>
            <p:spPr>
              <a:xfrm>
                <a:off x="8750740" y="2459485"/>
                <a:ext cx="620606" cy="17981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𝑝𝑟𝑜𝑥𝑦</m:t>
                          </m:r>
                        </m:sub>
                      </m:sSub>
                      <m:r>
                        <a:rPr lang="en-US" altLang="zh-CN" b="0" i="1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b="0">
                  <a:effectLst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altLang="zh-CN" b="0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600644A7-448A-7E28-114A-E1F7D58EA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740" y="2459485"/>
                <a:ext cx="620606" cy="1798185"/>
              </a:xfrm>
              <a:prstGeom prst="rect">
                <a:avLst/>
              </a:prstGeom>
              <a:blipFill>
                <a:blip r:embed="rId24"/>
                <a:stretch>
                  <a:fillRect r="-49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文本框 79">
            <a:extLst>
              <a:ext uri="{FF2B5EF4-FFF2-40B4-BE49-F238E27FC236}">
                <a16:creationId xmlns:a16="http://schemas.microsoft.com/office/drawing/2014/main" id="{72145D64-4DA7-1DD8-40F9-D77BA3407F1B}"/>
              </a:ext>
            </a:extLst>
          </p:cNvPr>
          <p:cNvSpPr txBox="1"/>
          <p:nvPr/>
        </p:nvSpPr>
        <p:spPr>
          <a:xfrm>
            <a:off x="9840455" y="2536221"/>
            <a:ext cx="1409392" cy="1669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Media Ratio</a:t>
            </a:r>
          </a:p>
          <a:p>
            <a:pPr>
              <a:lnSpc>
                <a:spcPct val="200000"/>
              </a:lnSpc>
            </a:pPr>
            <a:r>
              <a:rPr lang="en-US" altLang="zh-CN" b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Polarization</a:t>
            </a:r>
          </a:p>
          <a:p>
            <a:pPr>
              <a:lnSpc>
                <a:spcPct val="200000"/>
              </a:lnSpc>
            </a:pPr>
            <a:r>
              <a:rPr lang="en-US" altLang="zh-CN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Activity</a:t>
            </a:r>
            <a:endParaRPr lang="en-US" altLang="zh-CN" b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2" name="图形 81">
            <a:extLst>
              <a:ext uri="{FF2B5EF4-FFF2-40B4-BE49-F238E27FC236}">
                <a16:creationId xmlns:a16="http://schemas.microsoft.com/office/drawing/2014/main" id="{B644E181-B2E2-0E29-1789-7DA2AAB4EA7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456536" y="3407549"/>
            <a:ext cx="240111" cy="138526"/>
          </a:xfrm>
          <a:prstGeom prst="rect">
            <a:avLst/>
          </a:prstGeom>
        </p:spPr>
      </p:pic>
      <p:pic>
        <p:nvPicPr>
          <p:cNvPr id="87" name="图形 86">
            <a:extLst>
              <a:ext uri="{FF2B5EF4-FFF2-40B4-BE49-F238E27FC236}">
                <a16:creationId xmlns:a16="http://schemas.microsoft.com/office/drawing/2014/main" id="{5B59FF5B-5D9E-1BBA-6FF1-75687439AC0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388994" y="3771178"/>
            <a:ext cx="485775" cy="447675"/>
          </a:xfrm>
          <a:prstGeom prst="rect">
            <a:avLst/>
          </a:prstGeom>
        </p:spPr>
      </p:pic>
      <p:pic>
        <p:nvPicPr>
          <p:cNvPr id="89" name="图形 88">
            <a:extLst>
              <a:ext uri="{FF2B5EF4-FFF2-40B4-BE49-F238E27FC236}">
                <a16:creationId xmlns:a16="http://schemas.microsoft.com/office/drawing/2014/main" id="{3D2AAE7F-948E-A832-1AB5-EE9CFD2BD4F9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1404865" y="2682153"/>
            <a:ext cx="485775" cy="457200"/>
          </a:xfrm>
          <a:prstGeom prst="rect">
            <a:avLst/>
          </a:prstGeom>
        </p:spPr>
      </p:pic>
      <p:pic>
        <p:nvPicPr>
          <p:cNvPr id="91" name="图形 90">
            <a:extLst>
              <a:ext uri="{FF2B5EF4-FFF2-40B4-BE49-F238E27FC236}">
                <a16:creationId xmlns:a16="http://schemas.microsoft.com/office/drawing/2014/main" id="{1C8DDE7C-900E-EAC0-B918-6F66C839345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404865" y="3204491"/>
            <a:ext cx="485775" cy="4476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0B94D617-1D36-65C0-5BE3-CDF04D56B486}"/>
                  </a:ext>
                </a:extLst>
              </p:cNvPr>
              <p:cNvSpPr txBox="1"/>
              <p:nvPr/>
            </p:nvSpPr>
            <p:spPr>
              <a:xfrm>
                <a:off x="8374105" y="4404372"/>
                <a:ext cx="198044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lv-LV" altLang="zh-CN" sz="160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H1: </a:t>
                </a:r>
                <a14:m>
                  <m:oMath xmlns:m="http://schemas.openxmlformats.org/officeDocument/2006/math">
                    <m:r>
                      <a:rPr lang="lv-LV" altLang="zh-CN" sz="16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lv-LV" altLang="zh-CN" sz="160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vs</m:t>
                    </m:r>
                  </m:oMath>
                </a14:m>
                <a:r>
                  <a:rPr lang="lv-LV" altLang="zh-CN" sz="160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jump in </a:t>
                </a:r>
                <a14:m>
                  <m:oMath xmlns:m="http://schemas.openxmlformats.org/officeDocument/2006/math">
                    <m:r>
                      <a:rPr lang="lv-LV" altLang="zh-CN" sz="16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r>
                      <a:rPr lang="lv-LV" altLang="zh-CN" sz="16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𝑄</m:t>
                    </m:r>
                    <m:r>
                      <a:rPr lang="lv-LV" altLang="zh-CN" sz="16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endParaRPr lang="zh-CN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0B94D617-1D36-65C0-5BE3-CDF04D56B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105" y="4404372"/>
                <a:ext cx="1980448" cy="338554"/>
              </a:xfrm>
              <a:prstGeom prst="rect">
                <a:avLst/>
              </a:prstGeom>
              <a:blipFill>
                <a:blip r:embed="rId33"/>
                <a:stretch>
                  <a:fillRect l="-1846"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0701FFF8-AFEB-4B4C-EBDF-8782423D6100}"/>
                  </a:ext>
                </a:extLst>
              </p:cNvPr>
              <p:cNvSpPr txBox="1"/>
              <p:nvPr/>
            </p:nvSpPr>
            <p:spPr>
              <a:xfrm>
                <a:off x="10314484" y="4401920"/>
                <a:ext cx="1919108" cy="357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lv-LV" altLang="zh-CN" sz="160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H2: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𝑝𝑟𝑜𝑥𝑦</m:t>
                        </m:r>
                      </m:sub>
                    </m:sSub>
                    <m:r>
                      <a:rPr lang="en-US" altLang="zh-CN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600" b="0" i="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vs</m:t>
                    </m:r>
                  </m:oMath>
                </a14:m>
                <a:r>
                  <a:rPr lang="lv-LV" altLang="zh-CN" sz="160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lv-LV" altLang="zh-CN" sz="16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std</m:t>
                    </m:r>
                    <m:r>
                      <a:rPr lang="lv-LV" altLang="zh-CN" sz="16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lv-LV" altLang="zh-CN" sz="16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𝑄</m:t>
                    </m:r>
                    <m:r>
                      <a:rPr lang="lv-LV" altLang="zh-CN" sz="16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0701FFF8-AFEB-4B4C-EBDF-8782423D6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4484" y="4401920"/>
                <a:ext cx="1919108" cy="357983"/>
              </a:xfrm>
              <a:prstGeom prst="rect">
                <a:avLst/>
              </a:prstGeom>
              <a:blipFill>
                <a:blip r:embed="rId34"/>
                <a:stretch>
                  <a:fillRect l="-1587" t="-5085" b="-152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A0226014-A7D8-A128-3301-C108BCD6ACE0}"/>
                  </a:ext>
                </a:extLst>
              </p:cNvPr>
              <p:cNvSpPr txBox="1"/>
              <p:nvPr/>
            </p:nvSpPr>
            <p:spPr>
              <a:xfrm rot="16200000">
                <a:off x="10144266" y="5111547"/>
                <a:ext cx="901624" cy="2770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lv-LV" altLang="zh-CN" sz="12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std</m:t>
                      </m:r>
                      <m:r>
                        <a:rPr lang="lv-LV" altLang="zh-CN" sz="1200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lv-LV" altLang="zh-CN" sz="12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𝑄</m:t>
                      </m:r>
                      <m:r>
                        <a:rPr lang="lv-LV" altLang="zh-CN" sz="12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br>
                  <a:rPr lang="lv-LV" altLang="zh-CN" sz="120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</a:br>
                <a:endParaRPr lang="zh-CN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A0226014-A7D8-A128-3301-C108BCD6A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144266" y="5111547"/>
                <a:ext cx="901624" cy="277064"/>
              </a:xfrm>
              <a:prstGeom prst="rect">
                <a:avLst/>
              </a:prstGeom>
              <a:blipFill>
                <a:blip r:embed="rId35"/>
                <a:stretch>
                  <a:fillRect r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2BDB871F-AAEA-1EB5-905B-88D1DAE0F02D}"/>
                  </a:ext>
                </a:extLst>
              </p:cNvPr>
              <p:cNvSpPr txBox="1"/>
              <p:nvPr/>
            </p:nvSpPr>
            <p:spPr>
              <a:xfrm rot="16200000">
                <a:off x="8059414" y="5145517"/>
                <a:ext cx="122641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f>
                        <m:fPr>
                          <m:type m:val="lin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2BDB871F-AAEA-1EB5-905B-88D1DAE0F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059414" y="5145517"/>
                <a:ext cx="1226416" cy="276999"/>
              </a:xfrm>
              <a:prstGeom prst="rect">
                <a:avLst/>
              </a:prstGeom>
              <a:blipFill>
                <a:blip r:embed="rId36"/>
                <a:stretch>
                  <a:fillRect l="-93333" r="-15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形 5">
            <a:extLst>
              <a:ext uri="{FF2B5EF4-FFF2-40B4-BE49-F238E27FC236}">
                <a16:creationId xmlns:a16="http://schemas.microsoft.com/office/drawing/2014/main" id="{5797726B-06BD-3DF2-E572-64D4FAEC681B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8835041" y="4770245"/>
            <a:ext cx="1101715" cy="948226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C14380BD-5C70-544A-871A-2881CFD19C7C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0788925" y="4768714"/>
            <a:ext cx="1101715" cy="95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428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1092</TotalTime>
  <Words>92</Words>
  <Application>Microsoft Office PowerPoint</Application>
  <PresentationFormat>宽屏</PresentationFormat>
  <Paragraphs>35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Jinlin WU</dc:creator>
  <cp:lastModifiedBy>Jinlin WU</cp:lastModifiedBy>
  <cp:revision>4</cp:revision>
  <dcterms:created xsi:type="dcterms:W3CDTF">2025-12-25T03:16:45Z</dcterms:created>
  <dcterms:modified xsi:type="dcterms:W3CDTF">2025-12-26T04:11:25Z</dcterms:modified>
</cp:coreProperties>
</file>